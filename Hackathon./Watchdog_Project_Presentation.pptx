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B5A3F7-94DC-5AD0-DC4A-7BAB791F3CB7}">
          <p14:sldIdLst>
            <p14:sldId id="256"/>
            <p14:sldId id="257"/>
            <p14:sldId id="258"/>
            <p14:sldId id="259"/>
            <p14:sldId id="260"/>
          </p14:sldIdLst>
        </p14:section>
        <p14:section name="Design" id="{F5D0D7FD-6462-9AD2-B20E-99F8E994D7DB}">
          <p14:sldIdLst>
            <p14:sldId id="261"/>
            <p14:sldId id="262"/>
            <p14:sldId id="263"/>
          </p14:sldIdLst>
        </p14:section>
        <p14:section name="Implementation" id="{1DE0565C-3EB3-155B-79CA-716D9EC3EF78}">
          <p14:sldIdLst>
            <p14:sldId id="264"/>
            <p14:sldId id="265"/>
            <p14:sldId id="266"/>
          </p14:sldIdLst>
        </p14:section>
        <p14:section name="Wrap-up" id="{A8A04124-AC9C-15C8-49FA-7CA4B02A0D44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5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448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Linux Process Watchdog and Auto-Restart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Linux Process Watchdog and Auto-Restart System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2344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chemeClr val="accent1"/>
                </a:solidFill>
              </a:rPr>
              <a:t>OPERATING SYSTEMS PROJECT</a:t>
            </a:r>
            <a:endParaRPr 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731520" y="1828800"/>
            <a:ext cx="62179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Linux Process Watchdog and Auto-Restart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48056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dirty="0" err="1">
                <a:solidFill>
                  <a:schemeClr val="bg1"/>
                </a:solidFill>
              </a:rPr>
              <a:t>GUIDE:Raghupathi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M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1"/>
                </a:solidFill>
              </a:rPr>
              <a:t>BATCH:2</a:t>
            </a:r>
          </a:p>
          <a:p>
            <a:pPr marL="0" indent="0">
              <a:buNone/>
            </a:pPr>
            <a:r>
              <a:rPr lang="en-US" sz="1800" dirty="0" err="1" smtClean="0">
                <a:solidFill>
                  <a:schemeClr val="bg1"/>
                </a:solidFill>
              </a:rPr>
              <a:t>Anumola</a:t>
            </a:r>
            <a:r>
              <a:rPr lang="en-US" sz="1800" dirty="0" smtClean="0">
                <a:solidFill>
                  <a:schemeClr val="bg1"/>
                </a:solidFill>
              </a:rPr>
              <a:t> Jhansi </a:t>
            </a:r>
            <a:r>
              <a:rPr lang="en-US" sz="1800" dirty="0" err="1" smtClean="0">
                <a:solidFill>
                  <a:schemeClr val="bg1"/>
                </a:solidFill>
              </a:rPr>
              <a:t>Priya</a:t>
            </a:r>
            <a:r>
              <a:rPr lang="en-US" sz="1800" dirty="0" smtClean="0">
                <a:solidFill>
                  <a:schemeClr val="bg1"/>
                </a:solidFill>
              </a:rPr>
              <a:t> - 2520090205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chemeClr val="bg1"/>
                </a:solidFill>
              </a:rPr>
              <a:t>Keerthi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Priya</a:t>
            </a:r>
            <a:r>
              <a:rPr lang="en-US" dirty="0" smtClean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Ande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- 2520090177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150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dirty="0" smtClean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 smtClean="0">
                <a:solidFill>
                  <a:schemeClr val="bg2"/>
                </a:solidFill>
              </a:rPr>
              <a:t>Department</a:t>
            </a:r>
            <a:r>
              <a:rPr lang="en-US" dirty="0">
                <a:solidFill>
                  <a:schemeClr val="bg2"/>
                </a:solidFill>
              </a:rPr>
              <a:t>: CSIT  </a:t>
            </a:r>
            <a:endParaRPr lang="en-US" dirty="0"/>
          </a:p>
        </p:txBody>
      </p:sp>
      <p:sp>
        <p:nvSpPr>
          <p:cNvPr id="6" name="Terminal card"/>
          <p:cNvSpPr/>
          <p:nvPr/>
        </p:nvSpPr>
        <p:spPr>
          <a:xfrm>
            <a:off x="7315200" y="1463040"/>
            <a:ext cx="4389120" cy="3840480"/>
          </a:xfrm>
          <a:prstGeom prst="roundRect">
            <a:avLst>
              <a:gd name="adj" fmla="val 2857"/>
            </a:avLst>
          </a:prstGeom>
          <a:solidFill>
            <a:schemeClr val="tx2"/>
          </a:solidFill>
          <a:ln/>
        </p:spPr>
      </p:sp>
      <p:sp>
        <p:nvSpPr>
          <p:cNvPr id="7" name="Terminal dot 1"/>
          <p:cNvSpPr/>
          <p:nvPr/>
        </p:nvSpPr>
        <p:spPr>
          <a:xfrm>
            <a:off x="7589520" y="1737360"/>
            <a:ext cx="182880" cy="18288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8" name="Terminal dot 2"/>
          <p:cNvSpPr/>
          <p:nvPr/>
        </p:nvSpPr>
        <p:spPr>
          <a:xfrm>
            <a:off x="7882128" y="17373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rminal dot 3"/>
          <p:cNvSpPr/>
          <p:nvPr/>
        </p:nvSpPr>
        <p:spPr>
          <a:xfrm>
            <a:off x="8174736" y="173736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5895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./watchdog test_service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[start]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PID 4121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[beat]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heartbeat ok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58952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[crash]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killed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[wait] 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restart delay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589520" y="4526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[start] </a:t>
            </a:r>
            <a:r>
              <a:rPr lang="en-US" sz="14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 PID 4137</a:t>
            </a:r>
            <a:endParaRPr lang="en-US" sz="1400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Abstract</a:t>
            </a:r>
            <a:endParaRPr lang="en-US" sz="3600" dirty="0"/>
          </a:p>
        </p:txBody>
      </p:sp>
      <p:sp>
        <p:nvSpPr>
          <p:cNvPr id="3" name="Abstrac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Monitors a proces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Monitors a proces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Monitors a process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Watches a selected process in a Linux environment.</a:t>
            </a:r>
            <a:endParaRPr lang="en-US" sz="1400" dirty="0"/>
          </a:p>
        </p:txBody>
      </p:sp>
      <p:sp>
        <p:nvSpPr>
          <p:cNvPr id="8" name="Abstrac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Detects failure circle"/>
          <p:cNvSpPr/>
          <p:nvPr/>
        </p:nvSpPr>
        <p:spPr>
          <a:xfrm>
            <a:off x="466344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Detects failur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346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6344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Detects failure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Notices when the monitored process terminates unexpectedly.</a:t>
            </a:r>
            <a:endParaRPr lang="en-US" sz="1400" dirty="0"/>
          </a:p>
        </p:txBody>
      </p:sp>
      <p:sp>
        <p:nvSpPr>
          <p:cNvPr id="13" name="Abstrac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Restarts automatically circle"/>
          <p:cNvSpPr/>
          <p:nvPr/>
        </p:nvSpPr>
        <p:spPr>
          <a:xfrm>
            <a:off x="850392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Restarts automaticall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394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0392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Restarts automatically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Brings the process back after a short delay.</a:t>
            </a:r>
            <a:endParaRPr lang="en-US" sz="1400" dirty="0"/>
          </a:p>
        </p:txBody>
      </p:sp>
      <p:sp>
        <p:nvSpPr>
          <p:cNvPr id="18" name="Abstrac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Graphical dashboard circle"/>
          <p:cNvSpPr/>
          <p:nvPr/>
        </p:nvSpPr>
        <p:spPr>
          <a:xfrm>
            <a:off x="82296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Graphical dashboard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2980" y="441198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Graphical dashboard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Shows process status, events and restart activity.</a:t>
            </a:r>
            <a:endParaRPr lang="en-US" sz="1400" dirty="0"/>
          </a:p>
        </p:txBody>
      </p:sp>
      <p:sp>
        <p:nvSpPr>
          <p:cNvPr id="23" name="Abstract card 5"/>
          <p:cNvSpPr/>
          <p:nvPr/>
        </p:nvSpPr>
        <p:spPr>
          <a:xfrm>
            <a:off x="438912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Event logs circle"/>
          <p:cNvSpPr/>
          <p:nvPr/>
        </p:nvSpPr>
        <p:spPr>
          <a:xfrm>
            <a:off x="466344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Event logs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460" y="441198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66344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Event logs</a:t>
            </a:r>
            <a:endParaRPr lang="en-US" sz="1800" dirty="0"/>
          </a:p>
        </p:txBody>
      </p:sp>
      <p:sp>
        <p:nvSpPr>
          <p:cNvPr id="27" name="Text 20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Help users understand monitoring and recovery.</a:t>
            </a:r>
            <a:endParaRPr lang="en-US" sz="1400" dirty="0"/>
          </a:p>
        </p:txBody>
      </p:sp>
      <p:sp>
        <p:nvSpPr>
          <p:cNvPr id="28" name="Abstrac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OS concepts circle"/>
          <p:cNvSpPr/>
          <p:nvPr/>
        </p:nvSpPr>
        <p:spPr>
          <a:xfrm>
            <a:off x="8503920" y="425196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OS concepts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63940" y="441198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503920" y="5029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OS concepts</a:t>
            </a:r>
            <a:endParaRPr lang="en-US" sz="1800" dirty="0"/>
          </a:p>
        </p:txBody>
      </p:sp>
      <p:sp>
        <p:nvSpPr>
          <p:cNvPr id="32" name="Text 24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Demonstrates process management in Operating Systems.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4089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 Statement</a:t>
            </a:r>
            <a:endParaRPr lang="en-US" sz="3600" dirty="0"/>
          </a:p>
        </p:txBody>
      </p:sp>
      <p:sp>
        <p:nvSpPr>
          <p:cNvPr id="3" name="Problem 1 circle"/>
          <p:cNvSpPr/>
          <p:nvPr/>
        </p:nvSpPr>
        <p:spPr>
          <a:xfrm>
            <a:off x="548640" y="1554480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4" name="Image 0" descr="Problem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373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55448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Applications and background services may stop unexpectedly.</a:t>
            </a:r>
            <a:endParaRPr lang="en-US" sz="1800" dirty="0"/>
          </a:p>
        </p:txBody>
      </p:sp>
      <p:sp>
        <p:nvSpPr>
          <p:cNvPr id="6" name="Problem 2 circle"/>
          <p:cNvSpPr/>
          <p:nvPr/>
        </p:nvSpPr>
        <p:spPr>
          <a:xfrm>
            <a:off x="548640" y="2724912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7" name="Image 1" descr="Probl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07792"/>
            <a:ext cx="365760" cy="3657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54480" y="272491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Manual restarting requires continuous user attention.</a:t>
            </a:r>
            <a:endParaRPr lang="en-US" sz="1800" dirty="0"/>
          </a:p>
        </p:txBody>
      </p:sp>
      <p:sp>
        <p:nvSpPr>
          <p:cNvPr id="9" name="Problem 3 circle"/>
          <p:cNvSpPr/>
          <p:nvPr/>
        </p:nvSpPr>
        <p:spPr>
          <a:xfrm>
            <a:off x="548640" y="3895344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Image 2" descr="Probl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078224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554480" y="3895344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Unexpected termination can interrupt normal system operations.</a:t>
            </a:r>
            <a:endParaRPr lang="en-US" sz="1800" dirty="0"/>
          </a:p>
        </p:txBody>
      </p:sp>
      <p:sp>
        <p:nvSpPr>
          <p:cNvPr id="12" name="Problem 4 circle"/>
          <p:cNvSpPr/>
          <p:nvPr/>
        </p:nvSpPr>
        <p:spPr>
          <a:xfrm>
            <a:off x="548640" y="5065776"/>
            <a:ext cx="731520" cy="73152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3" name="Image 3" descr="Probl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5248656"/>
            <a:ext cx="365760" cy="36576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54480" y="5065776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Users need a simple way to monitor processes and recover from failures.</a:t>
            </a:r>
            <a:endParaRPr lang="en-US" sz="1800" dirty="0"/>
          </a:p>
        </p:txBody>
      </p:sp>
      <p:sp>
        <p:nvSpPr>
          <p:cNvPr id="15" name="Solution card"/>
          <p:cNvSpPr/>
          <p:nvPr/>
        </p:nvSpPr>
        <p:spPr>
          <a:xfrm>
            <a:off x="6675120" y="1554480"/>
            <a:ext cx="4937760" cy="4526280"/>
          </a:xfrm>
          <a:prstGeom prst="roundRect">
            <a:avLst>
              <a:gd name="adj" fmla="val 2424"/>
            </a:avLst>
          </a:prstGeom>
          <a:solidFill>
            <a:schemeClr val="tx1"/>
          </a:solidFill>
          <a:ln/>
        </p:spPr>
      </p:sp>
      <p:sp>
        <p:nvSpPr>
          <p:cNvPr id="16" name="Solution circle"/>
          <p:cNvSpPr/>
          <p:nvPr/>
        </p:nvSpPr>
        <p:spPr>
          <a:xfrm>
            <a:off x="704088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4" descr="Solu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2103120"/>
            <a:ext cx="365760" cy="36576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7040880" y="2971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chemeClr val="accent1"/>
                </a:solidFill>
              </a:rPr>
              <a:t>PROPOSED SOLUTION</a:t>
            </a:r>
            <a:endParaRPr lang="en-US" sz="1400" dirty="0"/>
          </a:p>
        </p:txBody>
      </p:sp>
      <p:sp>
        <p:nvSpPr>
          <p:cNvPr id="19" name="Text 12"/>
          <p:cNvSpPr txBox="1"/>
          <p:nvPr/>
        </p:nvSpPr>
        <p:spPr>
          <a:xfrm>
            <a:off x="7040880" y="3429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Develop a Linux-based watchdog that detects process termination and automatically restarts the selected service, with a GUI for monitoring.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2733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Objectives</a:t>
            </a:r>
            <a:endParaRPr lang="en-US" sz="3600" dirty="0"/>
          </a:p>
        </p:txBody>
      </p:sp>
      <p:sp>
        <p:nvSpPr>
          <p:cNvPr id="3" name="Objectives panel"/>
          <p:cNvSpPr/>
          <p:nvPr/>
        </p:nvSpPr>
        <p:spPr>
          <a:xfrm>
            <a:off x="548640" y="1554480"/>
            <a:ext cx="3291840" cy="4526280"/>
          </a:xfrm>
          <a:prstGeom prst="roundRect">
            <a:avLst>
              <a:gd name="adj" fmla="val 3333"/>
            </a:avLst>
          </a:prstGeom>
          <a:solidFill>
            <a:schemeClr val="tx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10312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8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Objectives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0233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What the watchdog sets out to do, and how it is monitored.</a:t>
            </a:r>
            <a:endParaRPr lang="en-US" sz="1400" dirty="0"/>
          </a:p>
        </p:txBody>
      </p:sp>
      <p:sp>
        <p:nvSpPr>
          <p:cNvPr id="7" name="Objective number 1"/>
          <p:cNvSpPr/>
          <p:nvPr/>
        </p:nvSpPr>
        <p:spPr>
          <a:xfrm>
            <a:off x="4297680" y="16459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2976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554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Monitor a selected process continuously</a:t>
            </a:r>
            <a:endParaRPr lang="en-US" sz="1800" dirty="0"/>
          </a:p>
        </p:txBody>
      </p:sp>
      <p:sp>
        <p:nvSpPr>
          <p:cNvPr id="10" name="Objective number 2"/>
          <p:cNvSpPr/>
          <p:nvPr/>
        </p:nvSpPr>
        <p:spPr>
          <a:xfrm>
            <a:off x="4297680" y="24231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29768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029200" y="2331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Detect unexpected process termination</a:t>
            </a:r>
            <a:endParaRPr lang="en-US" sz="1800" dirty="0"/>
          </a:p>
        </p:txBody>
      </p:sp>
      <p:sp>
        <p:nvSpPr>
          <p:cNvPr id="13" name="Objective number 3"/>
          <p:cNvSpPr/>
          <p:nvPr/>
        </p:nvSpPr>
        <p:spPr>
          <a:xfrm>
            <a:off x="4297680" y="3200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2976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0" y="310896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Restart the process automatically</a:t>
            </a:r>
            <a:endParaRPr lang="en-US" sz="1800" dirty="0"/>
          </a:p>
        </p:txBody>
      </p:sp>
      <p:sp>
        <p:nvSpPr>
          <p:cNvPr id="16" name="Objective number 4"/>
          <p:cNvSpPr/>
          <p:nvPr/>
        </p:nvSpPr>
        <p:spPr>
          <a:xfrm>
            <a:off x="4297680" y="3977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29768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388620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Display process status through a graphical interface</a:t>
            </a:r>
            <a:endParaRPr lang="en-US" sz="1800" dirty="0"/>
          </a:p>
        </p:txBody>
      </p:sp>
      <p:sp>
        <p:nvSpPr>
          <p:cNvPr id="19" name="Objective number 5"/>
          <p:cNvSpPr/>
          <p:nvPr/>
        </p:nvSpPr>
        <p:spPr>
          <a:xfrm>
            <a:off x="4297680" y="47548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97680" y="4754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6634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Record monitoring events in a log file</a:t>
            </a:r>
            <a:endParaRPr lang="en-US" sz="1800" dirty="0"/>
          </a:p>
        </p:txBody>
      </p:sp>
      <p:sp>
        <p:nvSpPr>
          <p:cNvPr id="22" name="Objective number 6"/>
          <p:cNvSpPr/>
          <p:nvPr/>
        </p:nvSpPr>
        <p:spPr>
          <a:xfrm>
            <a:off x="4297680" y="553212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54406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Limit restart attempts to avoid endless restarting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Existing System vs Proposed System</a:t>
            </a:r>
            <a:endParaRPr lang="en-US" sz="3600" dirty="0"/>
          </a:p>
        </p:txBody>
      </p:sp>
      <p:sp>
        <p:nvSpPr>
          <p:cNvPr id="3" name="Existing header"/>
          <p:cNvSpPr/>
          <p:nvPr/>
        </p:nvSpPr>
        <p:spPr>
          <a:xfrm>
            <a:off x="548640" y="1463040"/>
            <a:ext cx="4846320" cy="502920"/>
          </a:xfrm>
          <a:prstGeom prst="roundRect">
            <a:avLst>
              <a:gd name="adj" fmla="val 21818"/>
            </a:avLst>
          </a:prstGeom>
          <a:solidFill>
            <a:schemeClr val="accent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Existing approach</a:t>
            </a:r>
            <a:endParaRPr lang="en-US" sz="1600" dirty="0"/>
          </a:p>
        </p:txBody>
      </p:sp>
      <p:sp>
        <p:nvSpPr>
          <p:cNvPr id="5" name="Proposed header"/>
          <p:cNvSpPr/>
          <p:nvPr/>
        </p:nvSpPr>
        <p:spPr>
          <a:xfrm>
            <a:off x="6400800" y="1463040"/>
            <a:ext cx="5212080" cy="502920"/>
          </a:xfrm>
          <a:prstGeom prst="roundRect">
            <a:avLst>
              <a:gd name="adj" fmla="val 21818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0" y="1463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Proposed system</a:t>
            </a:r>
            <a:endParaRPr lang="en-US" sz="1600" dirty="0"/>
          </a:p>
        </p:txBody>
      </p:sp>
      <p:sp>
        <p:nvSpPr>
          <p:cNvPr id="7" name="Existing row 1"/>
          <p:cNvSpPr/>
          <p:nvPr/>
        </p:nvSpPr>
        <p:spPr>
          <a:xfrm>
            <a:off x="548640" y="219456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Manual process monitoring</a:t>
            </a:r>
            <a:endParaRPr lang="en-US" sz="1400" dirty="0"/>
          </a:p>
        </p:txBody>
      </p:sp>
      <p:pic>
        <p:nvPicPr>
          <p:cNvPr id="9" name="Image 0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2340864"/>
            <a:ext cx="365760" cy="365760"/>
          </a:xfrm>
          <a:prstGeom prst="rect">
            <a:avLst/>
          </a:prstGeom>
        </p:spPr>
      </p:pic>
      <p:sp>
        <p:nvSpPr>
          <p:cNvPr id="10" name="Proposed row 1"/>
          <p:cNvSpPr/>
          <p:nvPr/>
        </p:nvSpPr>
        <p:spPr>
          <a:xfrm>
            <a:off x="6400800" y="219456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29400" y="219456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monitoring</a:t>
            </a:r>
            <a:endParaRPr lang="en-US" sz="1600" dirty="0"/>
          </a:p>
        </p:txBody>
      </p:sp>
      <p:sp>
        <p:nvSpPr>
          <p:cNvPr id="12" name="Existing row 2"/>
          <p:cNvSpPr/>
          <p:nvPr/>
        </p:nvSpPr>
        <p:spPr>
          <a:xfrm>
            <a:off x="548640" y="297180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" y="297180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Manual restart after failure</a:t>
            </a:r>
            <a:endParaRPr lang="en-US" sz="1400" dirty="0"/>
          </a:p>
        </p:txBody>
      </p:sp>
      <p:pic>
        <p:nvPicPr>
          <p:cNvPr id="14" name="Image 1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118104"/>
            <a:ext cx="365760" cy="365760"/>
          </a:xfrm>
          <a:prstGeom prst="rect">
            <a:avLst/>
          </a:prstGeom>
        </p:spPr>
      </p:pic>
      <p:sp>
        <p:nvSpPr>
          <p:cNvPr id="15" name="Proposed row 2"/>
          <p:cNvSpPr/>
          <p:nvPr/>
        </p:nvSpPr>
        <p:spPr>
          <a:xfrm>
            <a:off x="6400800" y="297180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629400" y="297180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Automatic restart</a:t>
            </a:r>
            <a:endParaRPr lang="en-US" sz="1600" dirty="0"/>
          </a:p>
        </p:txBody>
      </p:sp>
      <p:sp>
        <p:nvSpPr>
          <p:cNvPr id="17" name="Existing row 3"/>
          <p:cNvSpPr/>
          <p:nvPr/>
        </p:nvSpPr>
        <p:spPr>
          <a:xfrm>
            <a:off x="548640" y="374904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777240" y="374904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Limited event visibility</a:t>
            </a:r>
            <a:endParaRPr lang="en-US" sz="1400" dirty="0"/>
          </a:p>
        </p:txBody>
      </p:sp>
      <p:pic>
        <p:nvPicPr>
          <p:cNvPr id="19" name="Image 2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3895344"/>
            <a:ext cx="365760" cy="365760"/>
          </a:xfrm>
          <a:prstGeom prst="rect">
            <a:avLst/>
          </a:prstGeom>
        </p:spPr>
      </p:pic>
      <p:sp>
        <p:nvSpPr>
          <p:cNvPr id="20" name="Proposed row 3"/>
          <p:cNvSpPr/>
          <p:nvPr/>
        </p:nvSpPr>
        <p:spPr>
          <a:xfrm>
            <a:off x="6400800" y="374904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6629400" y="374904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GUI event display</a:t>
            </a:r>
            <a:endParaRPr lang="en-US" sz="1600" dirty="0"/>
          </a:p>
        </p:txBody>
      </p:sp>
      <p:sp>
        <p:nvSpPr>
          <p:cNvPr id="22" name="Existing row 4"/>
          <p:cNvSpPr/>
          <p:nvPr/>
        </p:nvSpPr>
        <p:spPr>
          <a:xfrm>
            <a:off x="548640" y="452628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777240" y="452628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Manual tracking of failures</a:t>
            </a:r>
            <a:endParaRPr lang="en-US" sz="1400" dirty="0"/>
          </a:p>
        </p:txBody>
      </p:sp>
      <p:pic>
        <p:nvPicPr>
          <p:cNvPr id="24" name="Image 3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4672584"/>
            <a:ext cx="365760" cy="365760"/>
          </a:xfrm>
          <a:prstGeom prst="rect">
            <a:avLst/>
          </a:prstGeom>
        </p:spPr>
      </p:pic>
      <p:sp>
        <p:nvSpPr>
          <p:cNvPr id="25" name="Proposed row 4"/>
          <p:cNvSpPr/>
          <p:nvPr/>
        </p:nvSpPr>
        <p:spPr>
          <a:xfrm>
            <a:off x="6400800" y="452628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6629400" y="452628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File-based event logging</a:t>
            </a:r>
            <a:endParaRPr lang="en-US" sz="1600" dirty="0"/>
          </a:p>
        </p:txBody>
      </p:sp>
      <p:sp>
        <p:nvSpPr>
          <p:cNvPr id="27" name="Existing row 5"/>
          <p:cNvSpPr/>
          <p:nvPr/>
        </p:nvSpPr>
        <p:spPr>
          <a:xfrm>
            <a:off x="548640" y="5303520"/>
            <a:ext cx="484632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777240" y="5303520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No built-in restart limit in a basic manual workflow</a:t>
            </a:r>
            <a:endParaRPr lang="en-US" sz="1400" dirty="0"/>
          </a:p>
        </p:txBody>
      </p:sp>
      <p:pic>
        <p:nvPicPr>
          <p:cNvPr id="29" name="Image 4" descr="leads 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449824"/>
            <a:ext cx="365760" cy="365760"/>
          </a:xfrm>
          <a:prstGeom prst="rect">
            <a:avLst/>
          </a:prstGeom>
        </p:spPr>
      </p:pic>
      <p:sp>
        <p:nvSpPr>
          <p:cNvPr id="30" name="Proposed row 5"/>
          <p:cNvSpPr/>
          <p:nvPr/>
        </p:nvSpPr>
        <p:spPr>
          <a:xfrm>
            <a:off x="6400800" y="5303520"/>
            <a:ext cx="5212080" cy="658368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629400" y="53035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Configurable restart limit</a:t>
            </a:r>
            <a:endParaRPr lang="en-US" sz="16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Technologies Used</a:t>
            </a:r>
            <a:endParaRPr lang="en-US" sz="3600" dirty="0"/>
          </a:p>
        </p:txBody>
      </p:sp>
      <p:sp>
        <p:nvSpPr>
          <p:cNvPr id="3" name="Tech card 1"/>
          <p:cNvSpPr/>
          <p:nvPr/>
        </p:nvSpPr>
        <p:spPr>
          <a:xfrm>
            <a:off x="548640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C Programming Language circle"/>
          <p:cNvSpPr/>
          <p:nvPr/>
        </p:nvSpPr>
        <p:spPr>
          <a:xfrm>
            <a:off x="822960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C Programming Langu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0345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 Programming Language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Implements process creation, monitoring, signal handling, and restart logic.</a:t>
            </a:r>
            <a:endParaRPr lang="en-US" sz="1400" dirty="0"/>
          </a:p>
        </p:txBody>
      </p:sp>
      <p:sp>
        <p:nvSpPr>
          <p:cNvPr id="8" name="Tech card 2"/>
          <p:cNvSpPr/>
          <p:nvPr/>
        </p:nvSpPr>
        <p:spPr>
          <a:xfrm>
            <a:off x="3401568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9" name="Ubuntu Linux / WSL circle"/>
          <p:cNvSpPr/>
          <p:nvPr/>
        </p:nvSpPr>
        <p:spPr>
          <a:xfrm>
            <a:off x="3675888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Ubuntu Linux / WSL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1628" y="20345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75888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Ubuntu Linux / WSL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675888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Provides the Linux environment for executing and testing the watchdog.</a:t>
            </a:r>
            <a:endParaRPr lang="en-US" sz="1400" dirty="0"/>
          </a:p>
        </p:txBody>
      </p:sp>
      <p:sp>
        <p:nvSpPr>
          <p:cNvPr id="13" name="Tech card 3"/>
          <p:cNvSpPr/>
          <p:nvPr/>
        </p:nvSpPr>
        <p:spPr>
          <a:xfrm>
            <a:off x="6254496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4" name="Python Tkinter circle"/>
          <p:cNvSpPr/>
          <p:nvPr/>
        </p:nvSpPr>
        <p:spPr>
          <a:xfrm>
            <a:off x="6528816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Python Tkint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4556" y="203454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28816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Python Tkinter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528816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Builds the graphical dashboard with Start and Stop controls.</a:t>
            </a:r>
            <a:endParaRPr lang="en-US" sz="1400" dirty="0"/>
          </a:p>
        </p:txBody>
      </p:sp>
      <p:sp>
        <p:nvSpPr>
          <p:cNvPr id="18" name="Tech card 4"/>
          <p:cNvSpPr/>
          <p:nvPr/>
        </p:nvSpPr>
        <p:spPr>
          <a:xfrm>
            <a:off x="9107424" y="1554480"/>
            <a:ext cx="2697480" cy="397764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9" name="Visual Studio Code circle"/>
          <p:cNvSpPr/>
          <p:nvPr/>
        </p:nvSpPr>
        <p:spPr>
          <a:xfrm>
            <a:off x="9381744" y="182880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Visual Studio Cod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87484" y="203454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81744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Visual Studio Code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9381744" y="37490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Used to write, organize, and run the project files.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Also used: GCC compiler  |  Git and GitHub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515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System Architecture</a:t>
            </a:r>
            <a:endParaRPr lang="en-US" sz="3600" dirty="0"/>
          </a:p>
        </p:txBody>
      </p:sp>
      <p:sp>
        <p:nvSpPr>
          <p:cNvPr id="3" name="Architecture box 1"/>
          <p:cNvSpPr/>
          <p:nvPr/>
        </p:nvSpPr>
        <p:spPr>
          <a:xfrm>
            <a:off x="5486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4" name="User circle"/>
          <p:cNvSpPr/>
          <p:nvPr/>
        </p:nvSpPr>
        <p:spPr>
          <a:xfrm>
            <a:off x="13716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Us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3050" y="190881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User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Starts or stops monitoring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9260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Architecture box 2"/>
          <p:cNvSpPr/>
          <p:nvPr/>
        </p:nvSpPr>
        <p:spPr>
          <a:xfrm>
            <a:off x="35204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0" name="Python Tkinter GUI circle"/>
          <p:cNvSpPr/>
          <p:nvPr/>
        </p:nvSpPr>
        <p:spPr>
          <a:xfrm>
            <a:off x="43434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Image 1" descr="Python Tkinter GU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850" y="19088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Python Tkinter GUI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Displays status, events, and restart count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58978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Architecture box 3"/>
          <p:cNvSpPr/>
          <p:nvPr/>
        </p:nvSpPr>
        <p:spPr>
          <a:xfrm>
            <a:off x="64922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6" name="C Watchdog Engine circle"/>
          <p:cNvSpPr/>
          <p:nvPr/>
        </p:nvSpPr>
        <p:spPr>
          <a:xfrm>
            <a:off x="73152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Image 2" descr="C Watchdog Engin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6650" y="190881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6294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C Watchdog Engine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6294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Creates and monitors the child process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8869680" y="2697480"/>
            <a:ext cx="548640" cy="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Architecture box 4"/>
          <p:cNvSpPr/>
          <p:nvPr/>
        </p:nvSpPr>
        <p:spPr>
          <a:xfrm>
            <a:off x="9464040" y="1554480"/>
            <a:ext cx="233172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22" name="Test Service circle"/>
          <p:cNvSpPr/>
          <p:nvPr/>
        </p:nvSpPr>
        <p:spPr>
          <a:xfrm>
            <a:off x="10287000" y="17373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Image 3" descr="Test Servi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58450" y="1908810"/>
            <a:ext cx="342900" cy="34290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601200" y="25603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Test Service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601200" y="2926080"/>
            <a:ext cx="2057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Runs continuously and prints heartbeat messages</a:t>
            </a:r>
            <a:endParaRPr lang="en-US" sz="1400" dirty="0"/>
          </a:p>
        </p:txBody>
      </p:sp>
      <p:sp>
        <p:nvSpPr>
          <p:cNvPr id="26" name="Log arrow 1"/>
          <p:cNvSpPr/>
          <p:nvPr/>
        </p:nvSpPr>
        <p:spPr>
          <a:xfrm>
            <a:off x="46863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Log arrow 2"/>
          <p:cNvSpPr/>
          <p:nvPr/>
        </p:nvSpPr>
        <p:spPr>
          <a:xfrm>
            <a:off x="7658100" y="3840480"/>
            <a:ext cx="0" cy="640080"/>
          </a:xfrm>
          <a:prstGeom prst="line">
            <a:avLst/>
          </a:prstGeom>
          <a:noFill/>
          <a:ln w="317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Event log box"/>
          <p:cNvSpPr/>
          <p:nvPr/>
        </p:nvSpPr>
        <p:spPr>
          <a:xfrm>
            <a:off x="3520440" y="4526280"/>
            <a:ext cx="5303520" cy="123444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/>
        </p:spPr>
      </p:sp>
      <p:sp>
        <p:nvSpPr>
          <p:cNvPr id="29" name="Event Log circle"/>
          <p:cNvSpPr/>
          <p:nvPr/>
        </p:nvSpPr>
        <p:spPr>
          <a:xfrm>
            <a:off x="3794760" y="48006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4" descr="Event Lo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66210" y="4972050"/>
            <a:ext cx="342900" cy="34290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4709160" y="4754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Event Log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4709160" y="5166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Records monitoring and restart events</a:t>
            </a:r>
            <a:endParaRPr lang="en-US" sz="14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accent5"/>
                </a:solidFill>
              </a:rPr>
              <a:t>The GUI launches the C watchdog; the watchdog supervises the test service.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35" name="Picture 3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Working Methodology</a:t>
            </a:r>
            <a:endParaRPr lang="en-US" sz="36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4" name="Step number 1"/>
          <p:cNvSpPr/>
          <p:nvPr/>
        </p:nvSpPr>
        <p:spPr>
          <a:xfrm>
            <a:off x="777240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Start monitoring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clicks Start in the GUI.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419856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9" name="Step number 2"/>
          <p:cNvSpPr/>
          <p:nvPr/>
        </p:nvSpPr>
        <p:spPr>
          <a:xfrm>
            <a:off x="3648456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48456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648456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Create process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648456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watchdog calls fork(), then exec() runs the service.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291072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4" name="Step number 3"/>
          <p:cNvSpPr/>
          <p:nvPr/>
        </p:nvSpPr>
        <p:spPr>
          <a:xfrm>
            <a:off x="6519672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19672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Monitor process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19672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waitpid() waits for the child to terminate.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162288" y="155448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19" name="Step number 4"/>
          <p:cNvSpPr/>
          <p:nvPr/>
        </p:nvSpPr>
        <p:spPr>
          <a:xfrm>
            <a:off x="9390888" y="17830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90888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390888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Detect failure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390888" y="28803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Exit or termination of the child is detected.</a:t>
            </a:r>
            <a:endParaRPr lang="en-US" sz="1400" dirty="0"/>
          </a:p>
        </p:txBody>
      </p:sp>
      <p:sp>
        <p:nvSpPr>
          <p:cNvPr id="23" name="Step card 5"/>
          <p:cNvSpPr/>
          <p:nvPr/>
        </p:nvSpPr>
        <p:spPr>
          <a:xfrm>
            <a:off x="548640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4" name="Step number 5"/>
          <p:cNvSpPr/>
          <p:nvPr/>
        </p:nvSpPr>
        <p:spPr>
          <a:xfrm>
            <a:off x="777240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Restart process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After the configured delay, the service starts again.</a:t>
            </a:r>
            <a:endParaRPr lang="en-US" sz="1400" dirty="0"/>
          </a:p>
        </p:txBody>
      </p:sp>
      <p:sp>
        <p:nvSpPr>
          <p:cNvPr id="28" name="Step card 6"/>
          <p:cNvSpPr/>
          <p:nvPr/>
        </p:nvSpPr>
        <p:spPr>
          <a:xfrm>
            <a:off x="3419856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29" name="Step number 6"/>
          <p:cNvSpPr/>
          <p:nvPr/>
        </p:nvSpPr>
        <p:spPr>
          <a:xfrm>
            <a:off x="3648456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648456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6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3648456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Record events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3648456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GUI displays events and writes them to a log file.</a:t>
            </a:r>
            <a:endParaRPr lang="en-US" sz="1400" dirty="0"/>
          </a:p>
        </p:txBody>
      </p:sp>
      <p:sp>
        <p:nvSpPr>
          <p:cNvPr id="33" name="Step card 7"/>
          <p:cNvSpPr/>
          <p:nvPr/>
        </p:nvSpPr>
        <p:spPr>
          <a:xfrm>
            <a:off x="6291072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/>
        </p:spPr>
      </p:sp>
      <p:sp>
        <p:nvSpPr>
          <p:cNvPr id="34" name="Step number 7"/>
          <p:cNvSpPr/>
          <p:nvPr/>
        </p:nvSpPr>
        <p:spPr>
          <a:xfrm>
            <a:off x="6519672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19672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7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6519672" y="4846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Stop monitoring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6519672" y="5257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user clicks Stop for a controlled shutdown.</a:t>
            </a:r>
            <a:endParaRPr lang="en-US" sz="1400" dirty="0"/>
          </a:p>
        </p:txBody>
      </p:sp>
      <p:sp>
        <p:nvSpPr>
          <p:cNvPr id="38" name="Loop card"/>
          <p:cNvSpPr/>
          <p:nvPr/>
        </p:nvSpPr>
        <p:spPr>
          <a:xfrm>
            <a:off x="9162288" y="3931920"/>
            <a:ext cx="2633472" cy="2148840"/>
          </a:xfrm>
          <a:prstGeom prst="roundRect">
            <a:avLst>
              <a:gd name="adj" fmla="val 5106"/>
            </a:avLst>
          </a:prstGeom>
          <a:solidFill>
            <a:schemeClr val="tx1"/>
          </a:solidFill>
          <a:ln/>
        </p:spPr>
      </p:sp>
      <p:sp>
        <p:nvSpPr>
          <p:cNvPr id="39" name="Loop circle"/>
          <p:cNvSpPr/>
          <p:nvPr/>
        </p:nvSpPr>
        <p:spPr>
          <a:xfrm>
            <a:off x="9390888" y="41605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0" descr="Loo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8048" y="4297680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9390888" y="48920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Steps 3 to 5 repeat until the restart limit is reached.</a:t>
            </a:r>
            <a:endParaRPr lang="en-US" sz="16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Operating System Concepts Used</a:t>
            </a:r>
            <a:endParaRPr lang="en-US" sz="3600" dirty="0"/>
          </a:p>
        </p:txBody>
      </p:sp>
      <p:sp>
        <p:nvSpPr>
          <p:cNvPr id="3" name="Concept card 1"/>
          <p:cNvSpPr/>
          <p:nvPr/>
        </p:nvSpPr>
        <p:spPr>
          <a:xfrm>
            <a:off x="54864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Code chip 1"/>
          <p:cNvSpPr/>
          <p:nvPr/>
        </p:nvSpPr>
        <p:spPr>
          <a:xfrm>
            <a:off x="82296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fork()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creation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Creates a child process.</a:t>
            </a:r>
            <a:endParaRPr lang="en-US" sz="1400" dirty="0"/>
          </a:p>
        </p:txBody>
      </p:sp>
      <p:sp>
        <p:nvSpPr>
          <p:cNvPr id="8" name="Concept card 2"/>
          <p:cNvSpPr/>
          <p:nvPr/>
        </p:nvSpPr>
        <p:spPr>
          <a:xfrm>
            <a:off x="438912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Code chip 2"/>
          <p:cNvSpPr/>
          <p:nvPr/>
        </p:nvSpPr>
        <p:spPr>
          <a:xfrm>
            <a:off x="466344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6344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exec()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Program execution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Runs the selected service.</a:t>
            </a:r>
            <a:endParaRPr lang="en-US" sz="1400" dirty="0"/>
          </a:p>
        </p:txBody>
      </p:sp>
      <p:sp>
        <p:nvSpPr>
          <p:cNvPr id="13" name="Concept card 3"/>
          <p:cNvSpPr/>
          <p:nvPr/>
        </p:nvSpPr>
        <p:spPr>
          <a:xfrm>
            <a:off x="8229600" y="155448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Code chip 3"/>
          <p:cNvSpPr/>
          <p:nvPr/>
        </p:nvSpPr>
        <p:spPr>
          <a:xfrm>
            <a:off x="8503920" y="182880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503920" y="18288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waitpid()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603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synchronization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71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Waits for child termination.</a:t>
            </a:r>
            <a:endParaRPr lang="en-US" sz="1400" dirty="0"/>
          </a:p>
        </p:txBody>
      </p:sp>
      <p:sp>
        <p:nvSpPr>
          <p:cNvPr id="18" name="Concept card 4"/>
          <p:cNvSpPr/>
          <p:nvPr/>
        </p:nvSpPr>
        <p:spPr>
          <a:xfrm>
            <a:off x="54864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Code chip 4"/>
          <p:cNvSpPr/>
          <p:nvPr/>
        </p:nvSpPr>
        <p:spPr>
          <a:xfrm>
            <a:off x="82296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SIGTERM / SIGINT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Signals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Support controlled shutdown.</a:t>
            </a:r>
            <a:endParaRPr lang="en-US" sz="1400" dirty="0"/>
          </a:p>
        </p:txBody>
      </p:sp>
      <p:sp>
        <p:nvSpPr>
          <p:cNvPr id="23" name="Concept card 5"/>
          <p:cNvSpPr/>
          <p:nvPr/>
        </p:nvSpPr>
        <p:spPr>
          <a:xfrm>
            <a:off x="438912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Code chip 5"/>
          <p:cNvSpPr/>
          <p:nvPr/>
        </p:nvSpPr>
        <p:spPr>
          <a:xfrm>
            <a:off x="466344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66344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exit status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66344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Process status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Exit status and termination signals are checked.</a:t>
            </a:r>
            <a:endParaRPr lang="en-US" sz="1400" dirty="0"/>
          </a:p>
        </p:txBody>
      </p:sp>
      <p:sp>
        <p:nvSpPr>
          <p:cNvPr id="28" name="Concept card 6"/>
          <p:cNvSpPr/>
          <p:nvPr/>
        </p:nvSpPr>
        <p:spPr>
          <a:xfrm>
            <a:off x="8229600" y="3977640"/>
            <a:ext cx="35661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Code chip 6"/>
          <p:cNvSpPr/>
          <p:nvPr/>
        </p:nvSpPr>
        <p:spPr>
          <a:xfrm>
            <a:off x="8503920" y="4251960"/>
            <a:ext cx="3017520" cy="502920"/>
          </a:xfrm>
          <a:prstGeom prst="roundRect">
            <a:avLst>
              <a:gd name="adj" fmla="val 21818"/>
            </a:avLst>
          </a:prstGeom>
          <a:solidFill>
            <a:schemeClr val="tx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50392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/ child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503920" y="4983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Parent-child processes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850392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The watchdog supervises its child process.</a:t>
            </a:r>
            <a:endParaRPr lang="en-US" sz="14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57112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Implementation and Modules</a:t>
            </a:r>
            <a:endParaRPr lang="en-US" sz="3600" dirty="0"/>
          </a:p>
        </p:txBody>
      </p:sp>
      <p:sp>
        <p:nvSpPr>
          <p:cNvPr id="3" name="Module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Watchdog Engine circle"/>
          <p:cNvSpPr/>
          <p:nvPr/>
        </p:nvSpPr>
        <p:spPr>
          <a:xfrm>
            <a:off x="82296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Watchdog Eng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410" y="20002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69164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Watchdog Engine</a:t>
            </a:r>
            <a:endParaRPr lang="en-US" sz="2000" dirty="0"/>
          </a:p>
        </p:txBody>
      </p:sp>
      <p:sp>
        <p:nvSpPr>
          <p:cNvPr id="8" name="File chip 1"/>
          <p:cNvSpPr/>
          <p:nvPr/>
        </p:nvSpPr>
        <p:spPr>
          <a:xfrm>
            <a:off x="82296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watchdog.c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Creates and monitors the child process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Detects process termination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Restarts the service with a delay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Stops after the maximum restart attempts</a:t>
            </a:r>
            <a:endParaRPr lang="en-US" sz="1400" dirty="0"/>
          </a:p>
        </p:txBody>
      </p:sp>
      <p:sp>
        <p:nvSpPr>
          <p:cNvPr id="11" name="Module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2" name="Test Service circle"/>
          <p:cNvSpPr/>
          <p:nvPr/>
        </p:nvSpPr>
        <p:spPr>
          <a:xfrm>
            <a:off x="464058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Image 1" descr="Test Servic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2030" y="200025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0926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2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550926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 Service</a:t>
            </a:r>
            <a:endParaRPr lang="en-US" sz="2000" dirty="0"/>
          </a:p>
        </p:txBody>
      </p:sp>
      <p:sp>
        <p:nvSpPr>
          <p:cNvPr id="16" name="File chip 2"/>
          <p:cNvSpPr/>
          <p:nvPr/>
        </p:nvSpPr>
        <p:spPr>
          <a:xfrm>
            <a:off x="464058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64058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test_service.c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64058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Acts as the monitored application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Prints heartbeat messages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Helps demonstrate termination and recovery</a:t>
            </a:r>
            <a:endParaRPr lang="en-US" sz="1400" dirty="0"/>
          </a:p>
        </p:txBody>
      </p:sp>
      <p:sp>
        <p:nvSpPr>
          <p:cNvPr id="19" name="Module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20" name="GUI Dashboard circle"/>
          <p:cNvSpPr/>
          <p:nvPr/>
        </p:nvSpPr>
        <p:spPr>
          <a:xfrm>
            <a:off x="845820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2" descr="GUI 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9650" y="2000250"/>
            <a:ext cx="342900" cy="3429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326880" y="18288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chemeClr val="accent5"/>
                </a:solidFill>
              </a:rPr>
              <a:t>MODULE 3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9326880" y="2103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GUI Dashboard</a:t>
            </a:r>
            <a:endParaRPr lang="en-US" sz="2000" dirty="0"/>
          </a:p>
        </p:txBody>
      </p:sp>
      <p:sp>
        <p:nvSpPr>
          <p:cNvPr id="24" name="File chip 3"/>
          <p:cNvSpPr/>
          <p:nvPr/>
        </p:nvSpPr>
        <p:spPr>
          <a:xfrm>
            <a:off x="8458200" y="2880360"/>
            <a:ext cx="2377440" cy="457200"/>
          </a:xfrm>
          <a:prstGeom prst="roundRect">
            <a:avLst>
              <a:gd name="adj" fmla="val 24000"/>
            </a:avLst>
          </a:prstGeom>
          <a:solidFill>
            <a:schemeClr val="tx1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8458200" y="28803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dashboard.py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458200" y="3611880"/>
            <a:ext cx="3063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Provides Start and Stop buttons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Displays events and restart activity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Shows process status and writes event logs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4572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Testing and Results</a:t>
            </a:r>
            <a:endParaRPr lang="en-US" sz="3600" dirty="0"/>
          </a:p>
        </p:txBody>
      </p:sp>
      <p:graphicFrame>
        <p:nvGraphicFramePr>
          <p:cNvPr id="12" name="Tes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3218688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Expected result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D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Start watchdog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Monitoring starts and service launches.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Run service normally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Heartbeat messages appear.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Terminate service unexpectedly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Watchdog detects termination.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Allow restart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Service starts again with a new PID.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Check event log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Monitoring and restart events are recorded.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Reach restart limit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Watchdog stops restarting the service.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B1D26"/>
                          </a:solidFill>
                        </a:rPr>
                        <a:t>Stop monitoring from GUI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0B1D26"/>
                          </a:solidFill>
                        </a:rPr>
                        <a:t>Monitoring stops in a controlled manner.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served result card"/>
          <p:cNvSpPr/>
          <p:nvPr/>
        </p:nvSpPr>
        <p:spPr>
          <a:xfrm>
            <a:off x="548640" y="5074920"/>
            <a:ext cx="11064240" cy="1051560"/>
          </a:xfrm>
          <a:prstGeom prst="roundRect">
            <a:avLst>
              <a:gd name="adj" fmla="val 10435"/>
            </a:avLst>
          </a:prstGeom>
          <a:solidFill>
            <a:schemeClr val="tx1"/>
          </a:solidFill>
          <a:ln/>
        </p:spPr>
      </p:sp>
      <p:sp>
        <p:nvSpPr>
          <p:cNvPr id="5" name="Observed circle"/>
          <p:cNvSpPr/>
          <p:nvPr/>
        </p:nvSpPr>
        <p:spPr>
          <a:xfrm>
            <a:off x="822960" y="530352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mage 0" descr="Observe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5452110"/>
            <a:ext cx="297180" cy="29718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91640" y="5074920"/>
            <a:ext cx="9692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Observed result: </a:t>
            </a:r>
            <a:r>
              <a:rPr lang="en-US" sz="1600" dirty="0">
                <a:solidFill>
                  <a:schemeClr val="bg1"/>
                </a:solidFill>
              </a:rPr>
              <a:t>In our prototype, the service restarted after termination, the process ID changed, and the GUI recorded monitoring events.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-5734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Advantages, Limitations and Future Scope</a:t>
            </a:r>
            <a:endParaRPr lang="en-US" sz="3600" dirty="0"/>
          </a:p>
        </p:txBody>
      </p:sp>
      <p:sp>
        <p:nvSpPr>
          <p:cNvPr id="3" name="Column card 1"/>
          <p:cNvSpPr/>
          <p:nvPr/>
        </p:nvSpPr>
        <p:spPr>
          <a:xfrm>
            <a:off x="54864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4" name="Advantages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Advantag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Advantages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Reduces manual monitoring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Recovers automatically from termination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Simple graphical interface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Event logs for troubleshooting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Teaches Linux process management</a:t>
            </a:r>
            <a:endParaRPr lang="en-US" sz="1400" dirty="0"/>
          </a:p>
        </p:txBody>
      </p:sp>
      <p:sp>
        <p:nvSpPr>
          <p:cNvPr id="8" name="Column card 2"/>
          <p:cNvSpPr/>
          <p:nvPr/>
        </p:nvSpPr>
        <p:spPr>
          <a:xfrm>
            <a:off x="436626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9" name="Current limitations circle"/>
          <p:cNvSpPr/>
          <p:nvPr/>
        </p:nvSpPr>
        <p:spPr>
          <a:xfrm>
            <a:off x="4640580" y="182880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Current limitation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9888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4058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Current 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4058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Monitors a configured test service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Restart attempts limited to a fixed maximum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project demo, not a production service manager</a:t>
            </a:r>
            <a:endParaRPr lang="en-US" sz="1400" dirty="0"/>
          </a:p>
        </p:txBody>
      </p:sp>
      <p:sp>
        <p:nvSpPr>
          <p:cNvPr id="13" name="Column card 3"/>
          <p:cNvSpPr/>
          <p:nvPr/>
        </p:nvSpPr>
        <p:spPr>
          <a:xfrm>
            <a:off x="8183880" y="1554480"/>
            <a:ext cx="3611880" cy="457200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4" name="Future enhancements circle"/>
          <p:cNvSpPr/>
          <p:nvPr/>
        </p:nvSpPr>
        <p:spPr>
          <a:xfrm>
            <a:off x="8458200" y="18288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Future enhancemen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8220" y="19888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58200" y="265176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Future enhancements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458200" y="320040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Monitor multiple services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Configurable restart delays and limits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Uptime and failure statistics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Notifications for repeated failures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Config files and a persistent background service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2960" y="18618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657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Conclusion</a:t>
            </a:r>
            <a:endParaRPr lang="en-US" sz="3600" dirty="0"/>
          </a:p>
        </p:txBody>
      </p:sp>
      <p:pic>
        <p:nvPicPr>
          <p:cNvPr id="3" name="Image 0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80160" y="150876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Demonstrates automatic process monitoring and recovery in Linux.</a:t>
            </a:r>
            <a:endParaRPr lang="en-US" sz="2000" dirty="0"/>
          </a:p>
        </p:txBody>
      </p:sp>
      <p:pic>
        <p:nvPicPr>
          <p:cNvPr id="5" name="Image 1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774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280160" y="228600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Uses C system calls to manage child processes and detect termination.</a:t>
            </a:r>
            <a:endParaRPr lang="en-US" sz="2000" dirty="0"/>
          </a:p>
        </p:txBody>
      </p:sp>
      <p:pic>
        <p:nvPicPr>
          <p:cNvPr id="7" name="Image 2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54680"/>
            <a:ext cx="457200" cy="45720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280160" y="3063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 Python Tkinter dashboard makes the system easier to control and observe.</a:t>
            </a:r>
            <a:endParaRPr lang="en-US" sz="2000" dirty="0"/>
          </a:p>
        </p:txBody>
      </p:sp>
      <p:pic>
        <p:nvPicPr>
          <p:cNvPr id="9" name="Image 3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931920"/>
            <a:ext cx="457200" cy="4572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280160" y="384048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Event logging helps track failures and restart activity.</a:t>
            </a:r>
            <a:endParaRPr lang="en-US" sz="2000" dirty="0"/>
          </a:p>
        </p:txBody>
      </p:sp>
      <p:pic>
        <p:nvPicPr>
          <p:cNvPr id="11" name="Image 4" descr="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709160"/>
            <a:ext cx="457200" cy="457200"/>
          </a:xfrm>
          <a:prstGeom prst="rect">
            <a:avLst/>
          </a:prstGeom>
        </p:spPr>
      </p:pic>
      <p:sp>
        <p:nvSpPr>
          <p:cNvPr id="12" name="Text 5"/>
          <p:cNvSpPr txBox="1"/>
          <p:nvPr/>
        </p:nvSpPr>
        <p:spPr>
          <a:xfrm>
            <a:off x="128016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Applies key Operating Systems concepts to a practical problem.</a:t>
            </a:r>
            <a:endParaRPr lang="en-US" sz="2000" dirty="0"/>
          </a:p>
        </p:txBody>
      </p:sp>
      <p:sp>
        <p:nvSpPr>
          <p:cNvPr id="13" name="Text 6"/>
          <p:cNvSpPr txBox="1"/>
          <p:nvPr/>
        </p:nvSpPr>
        <p:spPr>
          <a:xfrm>
            <a:off x="548640" y="54864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9040" y="0"/>
            <a:ext cx="1759040" cy="7429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atchdog Terminal">
  <a:themeElements>
    <a:clrScheme name="Watchdog Terminal">
      <a:dk1>
        <a:srgbClr val="0B1D26"/>
      </a:dk1>
      <a:lt1>
        <a:srgbClr val="FFFFFF"/>
      </a:lt1>
      <a:dk2>
        <a:srgbClr val="13343D"/>
      </a:dk2>
      <a:lt2>
        <a:srgbClr val="EAF3F1"/>
      </a:lt2>
      <a:accent1>
        <a:srgbClr val="0FA37F"/>
      </a:accent1>
      <a:accent2>
        <a:srgbClr val="F59E0B"/>
      </a:accent2>
      <a:accent3>
        <a:srgbClr val="38BDF8"/>
      </a:accent3>
      <a:accent4>
        <a:srgbClr val="E5484D"/>
      </a:accent4>
      <a:accent5>
        <a:srgbClr val="5B7580"/>
      </a:accent5>
      <a:accent6>
        <a:srgbClr val="7C5CFF"/>
      </a:accent6>
      <a:hlink>
        <a:srgbClr val="0FA37F"/>
      </a:hlink>
      <a:folHlink>
        <a:srgbClr val="5B7580"/>
      </a:folHlink>
    </a:clrScheme>
    <a:fontScheme name="Watchdog Termi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891</Words>
  <Application>Microsoft Office PowerPoint</Application>
  <PresentationFormat>Widescreen</PresentationFormat>
  <Paragraphs>215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Watchdog Terminal</vt:lpstr>
      <vt:lpstr>Linux Process Watchdog and Auto-Restart System</vt:lpstr>
      <vt:lpstr>Abstract</vt:lpstr>
      <vt:lpstr>Problem Statement</vt:lpstr>
      <vt:lpstr>Objectives</vt:lpstr>
      <vt:lpstr>Existing System vs Proposed System</vt:lpstr>
      <vt:lpstr>Technologies Used</vt:lpstr>
      <vt:lpstr>System Architecture</vt:lpstr>
      <vt:lpstr>Working Methodology</vt:lpstr>
      <vt:lpstr>Operating System Concepts Used</vt:lpstr>
      <vt:lpstr>Implementation and Modules</vt:lpstr>
      <vt:lpstr>Testing and Results</vt:lpstr>
      <vt:lpstr>Advantages, Limitations and Future Scope</vt:lpstr>
      <vt:lpstr>Conclusion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Process Watchdog and Auto-Restart System</dc:title>
  <dc:subject>PptxGenJS Presentation</dc:subject>
  <dc:creator>PptxGenJS</dc:creator>
  <cp:lastModifiedBy>DELL</cp:lastModifiedBy>
  <cp:revision>4</cp:revision>
  <dcterms:created xsi:type="dcterms:W3CDTF">2026-10-16T15:38:06Z</dcterms:created>
  <dcterms:modified xsi:type="dcterms:W3CDTF">2026-10-16T16:53:34Z</dcterms:modified>
</cp:coreProperties>
</file>